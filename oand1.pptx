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6" r:id="rId18"/>
    <p:sldId id="277" r:id="rId19"/>
    <p:sldId id="278" r:id="rId20"/>
    <p:sldId id="279" r:id="rId21"/>
    <p:sldId id="280" r:id="rId22"/>
    <p:sldId id="281" r:id="rId23"/>
    <p:sldId id="293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816" y="-102"/>
      </p:cViewPr>
      <p:guideLst>
        <p:guide orient="horz" pos="2880"/>
        <p:guide pos="21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435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0358968" y="0"/>
            <a:ext cx="7924800" cy="51435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5715000" y="771525"/>
            <a:ext cx="6858000" cy="3857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70865"/>
            <a:ext cx="7924800" cy="51435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0358968" y="9770865"/>
            <a:ext cx="7924800" cy="51435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6221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61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90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49399" y="1426305"/>
            <a:ext cx="6903085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tx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tx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tx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tx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9900" y="1616807"/>
            <a:ext cx="13588365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tx1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6personalities.com/ko/%EB%AC%B4%EB%A3%8C-%EC%84%B1%EA%B2%A9-%EC%9C%A0%ED%98%95-%EA%B2%80%EC%82%AC" TargetMode="External"/><Relationship Id="rId7" Type="http://schemas.openxmlformats.org/officeDocument/2006/relationships/hyperlink" Target="https://velog.io/@solk553/MBTI-%ED%85%8C%EC%8A%A4%ED%8A%B8-%EA%B0%9C%EB%B0%9C%EC%9D%BC%EC%A7%80-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blog.naver.com/PostView.naver?blogId=dbwlals95&amp;logNo=222403324168&amp;parentCategoryNo=&amp;categoryNo=114&amp;viewDate=&amp;isShowPopularPosts" TargetMode="External"/><Relationship Id="rId5" Type="http://schemas.openxmlformats.org/officeDocument/2006/relationships/hyperlink" Target="https://blog.naver.com/careerners/222302129859" TargetMode="External"/><Relationship Id="rId4" Type="http://schemas.openxmlformats.org/officeDocument/2006/relationships/hyperlink" Target="https://ddnews.co.kr/mbti-%EA%B6%81%ED%95%A9%ED%91%9C-%EC%97%B0%EC%95%A0%EA%B6%81%ED%95%A9-%EC%B9%9C%EA%B5%AC%EA%B6%81%ED%95%A9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2" y="0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7710" y="3539723"/>
            <a:ext cx="11632565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500" spc="-944" dirty="0" err="1">
                <a:solidFill>
                  <a:srgbClr val="FFFFFF"/>
                </a:solidFill>
              </a:rPr>
              <a:t>MBTI</a:t>
            </a:r>
            <a:r>
              <a:rPr sz="12500" spc="-944" dirty="0" err="1" smtClean="0">
                <a:solidFill>
                  <a:srgbClr val="FFFFFF"/>
                </a:solidFill>
              </a:rPr>
              <a:t>사이트</a:t>
            </a:r>
            <a:endParaRPr sz="12500" dirty="0"/>
          </a:p>
        </p:txBody>
      </p:sp>
      <p:sp>
        <p:nvSpPr>
          <p:cNvPr id="4" name="object 4"/>
          <p:cNvSpPr txBox="1"/>
          <p:nvPr/>
        </p:nvSpPr>
        <p:spPr>
          <a:xfrm>
            <a:off x="5385705" y="5496825"/>
            <a:ext cx="7517130" cy="10746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6900" spc="-345" dirty="0" err="1">
                <a:solidFill>
                  <a:srgbClr val="FFFFFF"/>
                </a:solidFill>
                <a:latin typeface="돋움"/>
                <a:ea typeface="+mj-ea"/>
                <a:cs typeface="돋움"/>
              </a:rPr>
              <a:t>팀명</a:t>
            </a:r>
            <a:r>
              <a:rPr sz="6900" spc="-345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:</a:t>
            </a:r>
            <a:r>
              <a:rPr sz="6900" spc="-419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 </a:t>
            </a:r>
            <a:r>
              <a:rPr sz="6900" spc="-285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0과</a:t>
            </a:r>
            <a:r>
              <a:rPr sz="6900" spc="-415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 </a:t>
            </a:r>
            <a:r>
              <a:rPr sz="6900" spc="-950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1도</a:t>
            </a:r>
            <a:r>
              <a:rPr sz="6900" spc="-415" dirty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 </a:t>
            </a:r>
            <a:r>
              <a:rPr sz="6900" spc="-790" dirty="0" err="1" smtClean="0">
                <a:solidFill>
                  <a:srgbClr val="FFFFFF"/>
                </a:solidFill>
                <a:latin typeface="돋움"/>
                <a:ea typeface="+mj-ea"/>
                <a:cs typeface="돋움"/>
              </a:rPr>
              <a:t>모르조</a:t>
            </a:r>
            <a:endParaRPr sz="6900" spc="-790" dirty="0" smtClean="0">
              <a:solidFill>
                <a:srgbClr val="FFFFFF"/>
              </a:solidFill>
              <a:latin typeface="돋움"/>
              <a:ea typeface="+mj-ea"/>
              <a:cs typeface="돋움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7998" y="6896100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"/>
              </a:spcBef>
              <a:defRPr/>
            </a:pPr>
            <a:r>
              <a:rPr lang="ko-KR" altLang="en-US" sz="3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이태윤</a:t>
            </a:r>
            <a:r>
              <a:rPr lang="en-US" altLang="ko-KR" sz="3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3200" spc="818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3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전지원</a:t>
            </a:r>
            <a:r>
              <a:rPr lang="en-US" altLang="ko-KR" sz="32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3200" spc="8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3200" spc="-25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이준민</a:t>
            </a:r>
            <a:endParaRPr lang="ko-KR" altLang="en-US" sz="3200" dirty="0"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9" y="2844260"/>
            <a:ext cx="4176395" cy="529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9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3695" algn="l"/>
              </a:tabLst>
            </a:pPr>
            <a:r>
              <a:rPr sz="3000" spc="-305" dirty="0">
                <a:latin typeface="Dotum"/>
                <a:cs typeface="Dotum"/>
              </a:rPr>
              <a:t>팀원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345" dirty="0">
                <a:latin typeface="Dotum"/>
                <a:cs typeface="Dotum"/>
              </a:rPr>
              <a:t>소개</a:t>
            </a:r>
            <a:endParaRPr sz="30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Dotum"/>
              <a:buAutoNum type="arabicPeriod"/>
            </a:pPr>
            <a:endParaRPr sz="3050">
              <a:latin typeface="Dotum"/>
              <a:cs typeface="Dotum"/>
            </a:endParaRPr>
          </a:p>
          <a:p>
            <a:pPr marL="401955" indent="-389890">
              <a:lnSpc>
                <a:spcPct val="100000"/>
              </a:lnSpc>
              <a:buAutoNum type="arabicPeriod"/>
              <a:tabLst>
                <a:tab pos="402590" algn="l"/>
              </a:tabLst>
            </a:pPr>
            <a:r>
              <a:rPr sz="3000" spc="-335" dirty="0">
                <a:latin typeface="Dotum"/>
                <a:cs typeface="Dotum"/>
              </a:rPr>
              <a:t>프로젝트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355" dirty="0">
                <a:latin typeface="Dotum"/>
                <a:cs typeface="Dotum"/>
              </a:rPr>
              <a:t>개요</a:t>
            </a:r>
            <a:endParaRPr sz="30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Dotum"/>
              <a:buAutoNum type="arabicPeriod"/>
            </a:pPr>
            <a:endParaRPr sz="3050">
              <a:latin typeface="Dotum"/>
              <a:cs typeface="Dotum"/>
            </a:endParaRPr>
          </a:p>
          <a:p>
            <a:pPr marL="395605" indent="-383540">
              <a:lnSpc>
                <a:spcPct val="100000"/>
              </a:lnSpc>
              <a:buAutoNum type="arabicPeriod"/>
              <a:tabLst>
                <a:tab pos="396240" algn="l"/>
              </a:tabLst>
            </a:pPr>
            <a:r>
              <a:rPr sz="3000" spc="-325" dirty="0">
                <a:latin typeface="Dotum"/>
                <a:cs typeface="Dotum"/>
              </a:rPr>
              <a:t>사이트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375" dirty="0">
                <a:latin typeface="Dotum"/>
                <a:cs typeface="Dotum"/>
              </a:rPr>
              <a:t>구현</a:t>
            </a:r>
            <a:endParaRPr sz="30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Dotum"/>
              <a:buAutoNum type="arabicPeriod"/>
            </a:pPr>
            <a:endParaRPr sz="3050">
              <a:latin typeface="Dotum"/>
              <a:cs typeface="Dotum"/>
            </a:endParaRPr>
          </a:p>
          <a:p>
            <a:pPr marL="398780" indent="-386715">
              <a:lnSpc>
                <a:spcPct val="100000"/>
              </a:lnSpc>
              <a:buAutoNum type="arabicPeriod"/>
              <a:tabLst>
                <a:tab pos="399415" algn="l"/>
              </a:tabLst>
            </a:pPr>
            <a:r>
              <a:rPr sz="3000" spc="-300" dirty="0">
                <a:latin typeface="Dotum"/>
                <a:cs typeface="Dotum"/>
              </a:rPr>
              <a:t>기대효과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240" dirty="0">
                <a:latin typeface="Dotum"/>
                <a:cs typeface="Dotum"/>
              </a:rPr>
              <a:t>및</a:t>
            </a:r>
            <a:r>
              <a:rPr sz="3000" spc="-175" dirty="0">
                <a:latin typeface="Dotum"/>
                <a:cs typeface="Dotum"/>
              </a:rPr>
              <a:t> </a:t>
            </a:r>
            <a:r>
              <a:rPr sz="3000" spc="-25" dirty="0">
                <a:latin typeface="Dotum"/>
                <a:cs typeface="Dotum"/>
              </a:rPr>
              <a:t>맺음말</a:t>
            </a:r>
            <a:endParaRPr sz="3000">
              <a:latin typeface="Dotum"/>
              <a:cs typeface="Dotum"/>
            </a:endParaRPr>
          </a:p>
          <a:p>
            <a:pPr>
              <a:lnSpc>
                <a:spcPct val="100000"/>
              </a:lnSpc>
              <a:buFont typeface="Dotum"/>
              <a:buAutoNum type="arabicPeriod"/>
            </a:pPr>
            <a:endParaRPr sz="3100">
              <a:latin typeface="Dotum"/>
              <a:cs typeface="Dotum"/>
            </a:endParaRPr>
          </a:p>
          <a:p>
            <a:pPr marL="404495" indent="-392430">
              <a:lnSpc>
                <a:spcPct val="100000"/>
              </a:lnSpc>
              <a:buAutoNum type="arabicPeriod"/>
              <a:tabLst>
                <a:tab pos="405130" algn="l"/>
              </a:tabLst>
            </a:pPr>
            <a:r>
              <a:rPr sz="3000" spc="-305" dirty="0">
                <a:latin typeface="Dotum"/>
                <a:cs typeface="Dotum"/>
              </a:rPr>
              <a:t>팀원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360" dirty="0">
                <a:latin typeface="Dotum"/>
                <a:cs typeface="Dotum"/>
              </a:rPr>
              <a:t>소감</a:t>
            </a:r>
            <a:endParaRPr sz="30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Dotum"/>
              <a:buAutoNum type="arabicPeriod"/>
            </a:pPr>
            <a:endParaRPr sz="3050">
              <a:latin typeface="Dotum"/>
              <a:cs typeface="Dotum"/>
            </a:endParaRPr>
          </a:p>
          <a:p>
            <a:pPr marL="415290" indent="-403225">
              <a:lnSpc>
                <a:spcPct val="100000"/>
              </a:lnSpc>
              <a:buAutoNum type="arabicPeriod"/>
              <a:tabLst>
                <a:tab pos="415925" algn="l"/>
              </a:tabLst>
            </a:pPr>
            <a:r>
              <a:rPr sz="3000" spc="-350" dirty="0">
                <a:latin typeface="Dotum"/>
                <a:cs typeface="Dotum"/>
              </a:rPr>
              <a:t>참고서적</a:t>
            </a:r>
            <a:r>
              <a:rPr sz="3000" spc="-185" dirty="0">
                <a:latin typeface="Dotum"/>
                <a:cs typeface="Dotum"/>
              </a:rPr>
              <a:t> </a:t>
            </a:r>
            <a:r>
              <a:rPr sz="3000" spc="-240" dirty="0">
                <a:latin typeface="Dotum"/>
                <a:cs typeface="Dotum"/>
              </a:rPr>
              <a:t>및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290" dirty="0">
                <a:latin typeface="Dotum"/>
                <a:cs typeface="Dotum"/>
              </a:rPr>
              <a:t>참고</a:t>
            </a:r>
            <a:r>
              <a:rPr sz="3000" spc="-180" dirty="0">
                <a:latin typeface="Dotum"/>
                <a:cs typeface="Dotum"/>
              </a:rPr>
              <a:t> </a:t>
            </a:r>
            <a:r>
              <a:rPr sz="3000" spc="-350" dirty="0">
                <a:latin typeface="Dotum"/>
                <a:cs typeface="Dotum"/>
              </a:rPr>
              <a:t>사이트</a:t>
            </a:r>
            <a:endParaRPr sz="3000">
              <a:latin typeface="Dotum"/>
              <a:cs typeface="Dotum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9399" y="1426305"/>
            <a:ext cx="166243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25" dirty="0"/>
              <a:t>목차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60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7079" y="2664714"/>
            <a:ext cx="436435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5" dirty="0">
                <a:solidFill>
                  <a:srgbClr val="FFFFFF"/>
                </a:solidFill>
              </a:rPr>
              <a:t>1.</a:t>
            </a:r>
            <a:r>
              <a:rPr spc="270" dirty="0">
                <a:solidFill>
                  <a:srgbClr val="FFFFFF"/>
                </a:solidFill>
              </a:rPr>
              <a:t> </a:t>
            </a:r>
            <a:r>
              <a:rPr spc="-705" dirty="0">
                <a:solidFill>
                  <a:srgbClr val="FFFFFF"/>
                </a:solidFill>
              </a:rPr>
              <a:t>팀원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765" dirty="0">
                <a:solidFill>
                  <a:srgbClr val="FFFFFF"/>
                </a:solidFill>
              </a:rPr>
              <a:t>소개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399" y="1426307"/>
            <a:ext cx="441071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85" dirty="0"/>
              <a:t>1.1</a:t>
            </a:r>
            <a:r>
              <a:rPr spc="-430" dirty="0"/>
              <a:t> </a:t>
            </a:r>
            <a:r>
              <a:rPr spc="-745" dirty="0"/>
              <a:t>팀원소개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9" y="3857612"/>
            <a:ext cx="11363960" cy="1247788"/>
          </a:xfrm>
          <a:prstGeom prst="rect">
            <a:avLst/>
          </a:prstGeom>
        </p:spPr>
        <p:txBody>
          <a:bodyPr vert="horz" wrap="square" lIns="0" tIns="984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  <a:defRPr/>
            </a:pPr>
            <a:r>
              <a:rPr sz="3500" spc="-180">
                <a:latin typeface="맑은 고딕"/>
                <a:ea typeface="맑은 고딕"/>
                <a:cs typeface="돋움"/>
              </a:rPr>
              <a:t>팀장:</a:t>
            </a:r>
            <a:r>
              <a:rPr sz="3500" spc="-204">
                <a:latin typeface="맑은 고딕"/>
                <a:ea typeface="맑은 고딕"/>
                <a:cs typeface="돋움"/>
              </a:rPr>
              <a:t> </a:t>
            </a:r>
            <a:r>
              <a:rPr sz="3500" spc="-320">
                <a:latin typeface="맑은 고딕"/>
                <a:ea typeface="맑은 고딕"/>
                <a:cs typeface="돋움"/>
              </a:rPr>
              <a:t>이태윤</a:t>
            </a:r>
            <a:endParaRPr sz="3500" spc="-25">
              <a:latin typeface="맑은 고딕"/>
              <a:ea typeface="맑은 고딕"/>
              <a:cs typeface="돋움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defRPr/>
            </a:pPr>
            <a:r>
              <a:rPr sz="3500" spc="-229">
                <a:latin typeface="맑은 고딕"/>
                <a:ea typeface="맑은 고딕"/>
                <a:cs typeface="돋움"/>
              </a:rPr>
              <a:t>팀원:</a:t>
            </a:r>
            <a:r>
              <a:rPr sz="3500" spc="-200">
                <a:latin typeface="맑은 고딕"/>
                <a:ea typeface="맑은 고딕"/>
                <a:cs typeface="돋움"/>
              </a:rPr>
              <a:t> </a:t>
            </a:r>
            <a:r>
              <a:rPr sz="3500" spc="-385">
                <a:latin typeface="맑은 고딕"/>
                <a:ea typeface="맑은 고딕"/>
                <a:cs typeface="돋움"/>
              </a:rPr>
              <a:t>전지원</a:t>
            </a:r>
            <a:r>
              <a:rPr sz="3500" spc="-345">
                <a:latin typeface="맑은 고딕"/>
                <a:ea typeface="맑은 고딕"/>
                <a:cs typeface="돋움"/>
              </a:rPr>
              <a:t>,</a:t>
            </a:r>
            <a:r>
              <a:rPr sz="3500" spc="-200">
                <a:latin typeface="맑은 고딕"/>
                <a:ea typeface="맑은 고딕"/>
                <a:cs typeface="돋움"/>
              </a:rPr>
              <a:t> </a:t>
            </a:r>
            <a:r>
              <a:rPr sz="3500" spc="-305">
                <a:latin typeface="맑은 고딕"/>
                <a:ea typeface="맑은 고딕"/>
                <a:cs typeface="돋움"/>
              </a:rPr>
              <a:t>이준민</a:t>
            </a:r>
            <a:endParaRPr sz="3500">
              <a:latin typeface="맑은 고딕"/>
              <a:ea typeface="맑은 고딕"/>
              <a:cs typeface="돋움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65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4075" y="2436829"/>
            <a:ext cx="59766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5" dirty="0">
                <a:solidFill>
                  <a:srgbClr val="FFFFFF"/>
                </a:solidFill>
              </a:rPr>
              <a:t>2.</a:t>
            </a:r>
            <a:r>
              <a:rPr spc="-430" dirty="0">
                <a:solidFill>
                  <a:srgbClr val="FFFFFF"/>
                </a:solidFill>
              </a:rPr>
              <a:t> </a:t>
            </a:r>
            <a:r>
              <a:rPr spc="-775" dirty="0">
                <a:solidFill>
                  <a:srgbClr val="FFFFFF"/>
                </a:solidFill>
              </a:rPr>
              <a:t>프로젝트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765" dirty="0">
                <a:solidFill>
                  <a:srgbClr val="FFFFFF"/>
                </a:solidFill>
              </a:rPr>
              <a:t>개요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4075" y="4608505"/>
            <a:ext cx="2890520" cy="22971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065" lvl="8" indent="0">
              <a:lnSpc>
                <a:spcPct val="100000"/>
              </a:lnSpc>
              <a:spcBef>
                <a:spcPts val="100"/>
              </a:spcBef>
              <a:buNone/>
              <a:tabLst>
                <a:tab pos="564515" algn="l"/>
              </a:tabLst>
              <a:defRPr/>
            </a:pPr>
            <a:r>
              <a:rPr lang="en-US" altLang="ko-KR" sz="3000" spc="-34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2.1</a:t>
            </a:r>
            <a:r>
              <a:rPr lang="ko-KR" altLang="en-US" sz="3000" spc="-34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4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개요</a:t>
            </a:r>
          </a:p>
          <a:p>
            <a:pPr marL="12065" lvl="1" indent="0">
              <a:lnSpc>
                <a:spcPct val="100000"/>
              </a:lnSpc>
              <a:spcBef>
                <a:spcPts val="5"/>
              </a:spcBef>
              <a:buNone/>
              <a:tabLst>
                <a:tab pos="613410" algn="l"/>
              </a:tabLst>
              <a:defRPr/>
            </a:pPr>
            <a:endParaRPr sz="3000" spc="-335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spcBef>
                <a:spcPts val="5"/>
              </a:spcBef>
              <a:buNone/>
              <a:tabLst>
                <a:tab pos="613410" algn="l"/>
              </a:tabLst>
              <a:defRPr/>
            </a:pPr>
            <a:r>
              <a:rPr lang="en-US" altLang="ko-KR" sz="3000" spc="-33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2.2</a:t>
            </a:r>
            <a:r>
              <a:rPr lang="ko-KR" altLang="en-US" sz="3000" spc="-33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3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목적</a:t>
            </a:r>
            <a:r>
              <a:rPr sz="3000" spc="-185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4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및</a:t>
            </a:r>
            <a:r>
              <a:rPr sz="3000" spc="-18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7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필요성</a:t>
            </a:r>
          </a:p>
          <a:p>
            <a:pPr marL="12065" lvl="1" indent="0">
              <a:lnSpc>
                <a:spcPct val="100000"/>
              </a:lnSpc>
              <a:buNone/>
              <a:tabLst>
                <a:tab pos="607060" algn="l"/>
              </a:tabLst>
              <a:defRPr/>
            </a:pPr>
            <a:endParaRPr sz="3000" spc="-29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buNone/>
              <a:tabLst>
                <a:tab pos="607060" algn="l"/>
              </a:tabLst>
              <a:defRPr/>
            </a:pPr>
            <a:r>
              <a:rPr lang="en-US" altLang="ko-KR" sz="3000" spc="-29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2.3</a:t>
            </a:r>
            <a:r>
              <a:rPr lang="ko-KR" altLang="en-US" sz="3000" spc="-29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9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개발일정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85" dirty="0"/>
              <a:t>2.1</a:t>
            </a:r>
            <a:r>
              <a:rPr spc="-430" dirty="0"/>
              <a:t> </a:t>
            </a:r>
            <a:r>
              <a:rPr spc="-775" dirty="0"/>
              <a:t>개요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9" y="3254861"/>
            <a:ext cx="13411835" cy="1860064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  <a:defRPr/>
            </a:pPr>
            <a:r>
              <a:rPr sz="3500" spc="-440" dirty="0" err="1">
                <a:latin typeface="맑은 고딕"/>
                <a:ea typeface="맑은 고딕"/>
                <a:cs typeface="돋움"/>
              </a:rPr>
              <a:t>성격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55" dirty="0" err="1">
                <a:latin typeface="맑은 고딕"/>
                <a:ea typeface="맑은 고딕"/>
                <a:cs typeface="돋움"/>
              </a:rPr>
              <a:t>유형별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0" dirty="0" err="1">
                <a:latin typeface="맑은 고딕"/>
                <a:ea typeface="맑은 고딕"/>
                <a:cs typeface="돋움"/>
              </a:rPr>
              <a:t>정보들을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40" dirty="0" err="1">
                <a:latin typeface="맑은 고딕"/>
                <a:ea typeface="맑은 고딕"/>
                <a:cs typeface="돋움"/>
              </a:rPr>
              <a:t>수집하고</a:t>
            </a:r>
            <a:r>
              <a:rPr sz="3500" spc="-440" dirty="0">
                <a:latin typeface="맑은 고딕"/>
                <a:ea typeface="맑은 고딕"/>
                <a:cs typeface="돋움"/>
              </a:rPr>
              <a:t>,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0" dirty="0" err="1">
                <a:latin typeface="맑은 고딕"/>
                <a:ea typeface="맑은 고딕"/>
                <a:cs typeface="돋움"/>
              </a:rPr>
              <a:t>질문들을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10" dirty="0" err="1">
                <a:latin typeface="맑은 고딕"/>
                <a:ea typeface="맑은 고딕"/>
                <a:cs typeface="돋움"/>
              </a:rPr>
              <a:t>만들어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25" dirty="0" err="1">
                <a:latin typeface="맑은 고딕"/>
                <a:ea typeface="맑은 고딕"/>
                <a:cs typeface="돋움"/>
              </a:rPr>
              <a:t>회원들의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40" dirty="0" err="1">
                <a:latin typeface="맑은 고딕"/>
                <a:ea typeface="맑은 고딕"/>
                <a:cs typeface="돋움"/>
              </a:rPr>
              <a:t>성격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0" dirty="0" err="1">
                <a:latin typeface="맑은 고딕"/>
                <a:ea typeface="맑은 고딕"/>
                <a:cs typeface="돋움"/>
              </a:rPr>
              <a:t>유형을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75" dirty="0">
                <a:latin typeface="맑은 고딕"/>
                <a:ea typeface="맑은 고딕"/>
                <a:cs typeface="돋움"/>
              </a:rPr>
              <a:t>파 </a:t>
            </a:r>
            <a:r>
              <a:rPr sz="3500" spc="-285" dirty="0" err="1" smtClean="0">
                <a:latin typeface="맑은 고딕"/>
                <a:ea typeface="맑은 고딕"/>
                <a:cs typeface="돋움"/>
              </a:rPr>
              <a:t>악하</a:t>
            </a:r>
            <a:r>
              <a:rPr lang="ko-KR" altLang="en-US" sz="3500" spc="-285" dirty="0" smtClean="0">
                <a:latin typeface="맑은 고딕"/>
                <a:ea typeface="맑은 고딕"/>
                <a:cs typeface="돋움"/>
              </a:rPr>
              <a:t>고</a:t>
            </a:r>
            <a:r>
              <a:rPr sz="3500" spc="-209" dirty="0" smtClean="0">
                <a:latin typeface="맑은 고딕"/>
                <a:ea typeface="맑은 고딕"/>
                <a:cs typeface="돋움"/>
              </a:rPr>
              <a:t> </a:t>
            </a:r>
            <a:r>
              <a:rPr sz="3500" spc="-400" dirty="0" err="1">
                <a:latin typeface="맑은 고딕"/>
                <a:ea typeface="맑은 고딕"/>
                <a:cs typeface="돋움"/>
              </a:rPr>
              <a:t>회원들은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5" dirty="0">
                <a:latin typeface="맑은 고딕"/>
                <a:ea typeface="맑은 고딕"/>
                <a:cs typeface="돋움"/>
              </a:rPr>
              <a:t>각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40" dirty="0" err="1">
                <a:latin typeface="맑은 고딕"/>
                <a:ea typeface="맑은 고딕"/>
                <a:cs typeface="돋움"/>
              </a:rPr>
              <a:t>성격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65" dirty="0" err="1">
                <a:latin typeface="맑은 고딕"/>
                <a:ea typeface="맑은 고딕"/>
                <a:cs typeface="돋움"/>
              </a:rPr>
              <a:t>유형별로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90" dirty="0" err="1">
                <a:latin typeface="맑은 고딕"/>
                <a:ea typeface="맑은 고딕"/>
                <a:cs typeface="돋움"/>
              </a:rPr>
              <a:t>게시판에서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75" dirty="0" err="1">
                <a:latin typeface="맑은 고딕"/>
                <a:ea typeface="맑은 고딕"/>
                <a:cs typeface="돋움"/>
              </a:rPr>
              <a:t>이야기를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05" dirty="0" err="1">
                <a:latin typeface="맑은 고딕"/>
                <a:ea typeface="맑은 고딕"/>
                <a:cs typeface="돋움"/>
              </a:rPr>
              <a:t>주고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54" dirty="0" err="1">
                <a:latin typeface="맑은 고딕"/>
                <a:ea typeface="맑은 고딕"/>
                <a:cs typeface="돋움"/>
              </a:rPr>
              <a:t>받을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19" dirty="0">
                <a:latin typeface="맑은 고딕"/>
                <a:ea typeface="맑은 고딕"/>
                <a:cs typeface="돋움"/>
              </a:rPr>
              <a:t>수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75" dirty="0" err="1">
                <a:latin typeface="맑은 고딕"/>
                <a:ea typeface="맑은 고딕"/>
                <a:cs typeface="돋움"/>
              </a:rPr>
              <a:t>있고</a:t>
            </a:r>
            <a:r>
              <a:rPr sz="3500" spc="-475" dirty="0">
                <a:latin typeface="맑은 고딕"/>
                <a:ea typeface="맑은 고딕"/>
                <a:cs typeface="돋움"/>
              </a:rPr>
              <a:t>, </a:t>
            </a:r>
            <a:r>
              <a:rPr sz="3500" spc="-300" dirty="0" err="1">
                <a:latin typeface="맑은 고딕"/>
                <a:ea typeface="맑은 고딕"/>
                <a:cs typeface="돋움"/>
              </a:rPr>
              <a:t>또한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85" dirty="0" err="1">
                <a:latin typeface="맑은 고딕"/>
                <a:ea typeface="맑은 고딕"/>
                <a:cs typeface="돋움"/>
              </a:rPr>
              <a:t>다른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40" dirty="0" err="1">
                <a:latin typeface="맑은 고딕"/>
                <a:ea typeface="맑은 고딕"/>
                <a:cs typeface="돋움"/>
              </a:rPr>
              <a:t>성격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0" dirty="0" err="1">
                <a:latin typeface="맑은 고딕"/>
                <a:ea typeface="맑은 고딕"/>
                <a:cs typeface="돋움"/>
              </a:rPr>
              <a:t>유형들도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30" dirty="0" err="1">
                <a:latin typeface="맑은 고딕"/>
                <a:ea typeface="맑은 고딕"/>
                <a:cs typeface="돋움"/>
              </a:rPr>
              <a:t>다같이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80" dirty="0" err="1">
                <a:latin typeface="맑은 고딕"/>
                <a:ea typeface="맑은 고딕"/>
                <a:cs typeface="돋움"/>
              </a:rPr>
              <a:t>이야기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할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19" dirty="0">
                <a:latin typeface="맑은 고딕"/>
                <a:ea typeface="맑은 고딕"/>
                <a:cs typeface="돋움"/>
              </a:rPr>
              <a:t>수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35" dirty="0" err="1">
                <a:latin typeface="맑은 고딕"/>
                <a:ea typeface="맑은 고딕"/>
                <a:cs typeface="돋움"/>
              </a:rPr>
              <a:t>있는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90" dirty="0" err="1">
                <a:latin typeface="맑은 고딕"/>
                <a:ea typeface="맑은 고딕"/>
                <a:cs typeface="돋움"/>
              </a:rPr>
              <a:t>커뮤니티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95" dirty="0" err="1">
                <a:latin typeface="맑은 고딕"/>
                <a:ea typeface="맑은 고딕"/>
                <a:cs typeface="돋움"/>
              </a:rPr>
              <a:t>사이트입니다</a:t>
            </a:r>
            <a:r>
              <a:rPr sz="3500" spc="-395" dirty="0">
                <a:latin typeface="맑은 고딕"/>
                <a:ea typeface="맑은 고딕"/>
                <a:cs typeface="돋움"/>
              </a:rPr>
              <a:t>.</a:t>
            </a:r>
            <a:endParaRPr sz="3500" dirty="0">
              <a:latin typeface="맑은 고딕"/>
              <a:ea typeface="맑은 고딕"/>
              <a:cs typeface="돋움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pc="-585" dirty="0"/>
              <a:t>2.2</a:t>
            </a:r>
            <a:r>
              <a:rPr spc="-430" dirty="0"/>
              <a:t> </a:t>
            </a:r>
            <a:r>
              <a:rPr spc="-775" dirty="0"/>
              <a:t>목적</a:t>
            </a:r>
            <a:r>
              <a:rPr spc="-43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25" dirty="0"/>
              <a:t>필요성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49399" y="3254862"/>
            <a:ext cx="13118465" cy="1240938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  <a:defRPr/>
            </a:pPr>
            <a:r>
              <a:rPr sz="3500" spc="-380" dirty="0" err="1">
                <a:latin typeface="맑은 고딕"/>
                <a:ea typeface="맑은 고딕"/>
                <a:cs typeface="돋움"/>
              </a:rPr>
              <a:t>질문들을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20" dirty="0" err="1">
                <a:latin typeface="맑은 고딕"/>
                <a:ea typeface="맑은 고딕"/>
                <a:cs typeface="돋움"/>
              </a:rPr>
              <a:t>통해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50" dirty="0" err="1">
                <a:latin typeface="맑은 고딕"/>
                <a:ea typeface="맑은 고딕"/>
                <a:cs typeface="돋움"/>
              </a:rPr>
              <a:t>회원의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15" dirty="0" err="1">
                <a:latin typeface="맑은 고딕"/>
                <a:ea typeface="맑은 고딕"/>
                <a:cs typeface="돋움"/>
              </a:rPr>
              <a:t>성격을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95" dirty="0" err="1">
                <a:latin typeface="맑은 고딕"/>
                <a:ea typeface="맑은 고딕"/>
                <a:cs typeface="돋움"/>
              </a:rPr>
              <a:t>파악하고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85" dirty="0" err="1">
                <a:latin typeface="맑은 고딕"/>
                <a:ea typeface="맑은 고딕"/>
                <a:cs typeface="돋움"/>
              </a:rPr>
              <a:t>다른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75" dirty="0" err="1">
                <a:latin typeface="맑은 고딕"/>
                <a:ea typeface="맑은 고딕"/>
                <a:cs typeface="돋움"/>
              </a:rPr>
              <a:t>회원들과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260" dirty="0" err="1">
                <a:latin typeface="맑은 고딕"/>
                <a:ea typeface="맑은 고딕"/>
                <a:cs typeface="돋움"/>
              </a:rPr>
              <a:t>대화하며</a:t>
            </a:r>
            <a:r>
              <a:rPr sz="3500" spc="-204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60" dirty="0" err="1">
                <a:latin typeface="맑은 고딕"/>
                <a:ea typeface="맑은 고딕"/>
                <a:cs typeface="돋움"/>
              </a:rPr>
              <a:t>이야기할</a:t>
            </a:r>
            <a:r>
              <a:rPr sz="3500" spc="-360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19" dirty="0">
                <a:latin typeface="맑은 고딕"/>
                <a:ea typeface="맑은 고딕"/>
                <a:cs typeface="돋움"/>
              </a:rPr>
              <a:t>수</a:t>
            </a:r>
            <a:r>
              <a:rPr sz="3500" spc="-215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35" dirty="0" err="1">
                <a:latin typeface="맑은 고딕"/>
                <a:ea typeface="맑은 고딕"/>
                <a:cs typeface="돋움"/>
              </a:rPr>
              <a:t>있는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90" dirty="0" err="1">
                <a:latin typeface="맑은 고딕"/>
                <a:ea typeface="맑은 고딕"/>
                <a:cs typeface="돋움"/>
              </a:rPr>
              <a:t>커뮤니티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75" dirty="0" err="1">
                <a:latin typeface="맑은 고딕"/>
                <a:ea typeface="맑은 고딕"/>
                <a:cs typeface="돋움"/>
              </a:rPr>
              <a:t>사이트를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10" dirty="0" err="1">
                <a:latin typeface="맑은 고딕"/>
                <a:ea typeface="맑은 고딕"/>
                <a:cs typeface="돋움"/>
              </a:rPr>
              <a:t>만드는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40" dirty="0" err="1">
                <a:latin typeface="맑은 고딕"/>
                <a:ea typeface="맑은 고딕"/>
                <a:cs typeface="돋움"/>
              </a:rPr>
              <a:t>것이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459" dirty="0" err="1">
                <a:latin typeface="맑은 고딕"/>
                <a:ea typeface="맑은 고딕"/>
                <a:cs typeface="돋움"/>
              </a:rPr>
              <a:t>저희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70" dirty="0" err="1">
                <a:latin typeface="맑은 고딕"/>
                <a:ea typeface="맑은 고딕"/>
                <a:cs typeface="돋움"/>
              </a:rPr>
              <a:t>팀의</a:t>
            </a:r>
            <a:r>
              <a:rPr sz="3500" spc="-209" dirty="0">
                <a:latin typeface="맑은 고딕"/>
                <a:ea typeface="맑은 고딕"/>
                <a:cs typeface="돋움"/>
              </a:rPr>
              <a:t> </a:t>
            </a:r>
            <a:r>
              <a:rPr sz="3500" spc="-395" dirty="0" err="1">
                <a:latin typeface="맑은 고딕"/>
                <a:ea typeface="맑은 고딕"/>
                <a:cs typeface="돋움"/>
              </a:rPr>
              <a:t>목표입니다</a:t>
            </a:r>
            <a:r>
              <a:rPr sz="3500" spc="-395" dirty="0">
                <a:latin typeface="맑은 고딕"/>
                <a:ea typeface="맑은 고딕"/>
                <a:cs typeface="돋움"/>
              </a:rPr>
              <a:t>.</a:t>
            </a:r>
            <a:endParaRPr sz="3500" dirty="0">
              <a:latin typeface="맑은 고딕"/>
              <a:ea typeface="맑은 고딕"/>
              <a:cs typeface="돋움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11112" y="9715500"/>
            <a:ext cx="18265772" cy="56197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15" dirty="0"/>
              <a:t>2.3</a:t>
            </a:r>
            <a:r>
              <a:rPr spc="-425" dirty="0"/>
              <a:t> </a:t>
            </a:r>
            <a:r>
              <a:rPr spc="-495" dirty="0"/>
              <a:t>개발</a:t>
            </a:r>
            <a:r>
              <a:rPr spc="-425" dirty="0"/>
              <a:t> </a:t>
            </a:r>
            <a:r>
              <a:rPr spc="-765" dirty="0"/>
              <a:t>일정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2242184" y="3009900"/>
          <a:ext cx="12464412" cy="6324595"/>
        </p:xfrm>
        <a:graphic>
          <a:graphicData uri="http://schemas.openxmlformats.org/drawingml/2006/table">
            <a:tbl>
              <a:tblPr firstRow="1" bandRow="1"/>
              <a:tblGrid>
                <a:gridCol w="4551093"/>
                <a:gridCol w="1239956"/>
                <a:gridCol w="1141703"/>
                <a:gridCol w="1161354"/>
                <a:gridCol w="1161354"/>
                <a:gridCol w="1151528"/>
                <a:gridCol w="1161354"/>
                <a:gridCol w="896070"/>
              </a:tblGrid>
              <a:tr h="485810">
                <a:tc rowSpan="2">
                  <a:txBody>
                    <a:bodyPr/>
                    <a:lstStyle/>
                    <a:p>
                      <a:pPr marL="63500" algn="just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시기</a:t>
                      </a:r>
                    </a:p>
                    <a:p>
                      <a:pPr marL="63500" algn="just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단계별 내용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lnTlToBr w="127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lToB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581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lnTlToBr w="127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</a:t>
                      </a:r>
                      <a:r>
                        <a:rPr sz="1500" b="1" i="0" u="none" strike="noStrike" spc="-50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58619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구상 및 기획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1573445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설계 및 구현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메인화면 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화면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검사지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1573445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설계 및 구현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기능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 </a:t>
                      </a: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 게시판 등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58619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데이터베이스 설계 및 구현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58619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테스팅 및 프로젝트 완성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830228">
                <a:tc>
                  <a:txBody>
                    <a:bodyPr/>
                    <a:lstStyle/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 작성</a:t>
                      </a:r>
                    </a:p>
                    <a:p>
                      <a:pPr marL="635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5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발표자료 작성</a:t>
                      </a:r>
                    </a:p>
                  </a:txBody>
                  <a:tcPr anchor="ctr">
                    <a:lnL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sz="1500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259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59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4075" y="2436826"/>
            <a:ext cx="514794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0" dirty="0">
                <a:solidFill>
                  <a:srgbClr val="FFFFFF"/>
                </a:solidFill>
              </a:rPr>
              <a:t>3.</a:t>
            </a:r>
            <a:r>
              <a:rPr spc="-430" dirty="0">
                <a:solidFill>
                  <a:srgbClr val="FFFFFF"/>
                </a:solidFill>
              </a:rPr>
              <a:t> </a:t>
            </a:r>
            <a:r>
              <a:rPr spc="-750" dirty="0">
                <a:solidFill>
                  <a:srgbClr val="FFFFFF"/>
                </a:solidFill>
              </a:rPr>
              <a:t>사이트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835" dirty="0">
                <a:solidFill>
                  <a:srgbClr val="FFFFFF"/>
                </a:solidFill>
              </a:rPr>
              <a:t>구현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4075" y="4608502"/>
            <a:ext cx="4739005" cy="340202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065" lvl="1" indent="0">
              <a:lnSpc>
                <a:spcPct val="100000"/>
              </a:lnSpc>
              <a:spcBef>
                <a:spcPts val="100"/>
              </a:spcBef>
              <a:buNone/>
              <a:tabLst>
                <a:tab pos="558165" algn="l"/>
              </a:tabLst>
              <a:defRPr/>
            </a:pPr>
            <a:r>
              <a:rPr lang="en-US" altLang="ko-KR" sz="3000" spc="-22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3.1</a:t>
            </a:r>
            <a:r>
              <a:rPr lang="ko-KR" altLang="en-US" sz="3000" spc="-22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2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개발</a:t>
            </a:r>
            <a:r>
              <a:rPr sz="3000" spc="-1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75" dirty="0" err="1" smtClean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도구</a:t>
            </a:r>
            <a:endParaRPr sz="3000" spc="-375" dirty="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spcBef>
                <a:spcPts val="5"/>
              </a:spcBef>
              <a:buNone/>
              <a:tabLst>
                <a:tab pos="607060" algn="l"/>
              </a:tabLst>
              <a:defRPr/>
            </a:pPr>
            <a:endParaRPr sz="3000" spc="-350" dirty="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spcBef>
                <a:spcPts val="5"/>
              </a:spcBef>
              <a:buNone/>
              <a:tabLst>
                <a:tab pos="607060" algn="l"/>
              </a:tabLst>
              <a:defRPr/>
            </a:pPr>
            <a:r>
              <a:rPr lang="en-US" altLang="ko-KR" sz="3000" spc="-35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3.2</a:t>
            </a:r>
            <a:r>
              <a:rPr lang="ko-KR" altLang="en-US" sz="3000" spc="-35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5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구현</a:t>
            </a:r>
            <a:r>
              <a:rPr sz="3000" spc="-18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15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프로그램</a:t>
            </a:r>
            <a:r>
              <a:rPr sz="3000" spc="-17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3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목록</a:t>
            </a:r>
            <a:endParaRPr sz="3000" spc="-330" dirty="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돋움"/>
              <a:buAutoNum type="arabicPeriod"/>
              <a:defRPr/>
            </a:pPr>
            <a:endParaRPr sz="3600" dirty="0"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buNone/>
              <a:tabLst>
                <a:tab pos="601345" algn="l"/>
              </a:tabLst>
              <a:defRPr/>
            </a:pPr>
            <a:r>
              <a:rPr lang="en-US" altLang="ko-KR" sz="3000" spc="-2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3.3</a:t>
            </a:r>
            <a:r>
              <a:rPr lang="ko-KR" altLang="en-US" sz="3000" spc="-2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8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데이터베이스</a:t>
            </a:r>
            <a:r>
              <a:rPr sz="3000" spc="-18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2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설계</a:t>
            </a:r>
            <a:r>
              <a:rPr sz="3000" spc="-1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4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및</a:t>
            </a:r>
            <a:r>
              <a:rPr sz="3000" spc="-1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75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구성</a:t>
            </a:r>
            <a:endParaRPr sz="3000" spc="-375" dirty="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돋움"/>
              <a:buAutoNum type="arabicPeriod"/>
              <a:defRPr/>
            </a:pPr>
            <a:endParaRPr sz="3600" dirty="0">
              <a:latin typeface="맑은 고딕"/>
              <a:ea typeface="맑은 고딕"/>
              <a:cs typeface="돋움"/>
            </a:endParaRPr>
          </a:p>
          <a:p>
            <a:pPr marL="12065" lvl="1" indent="0">
              <a:lnSpc>
                <a:spcPct val="100000"/>
              </a:lnSpc>
              <a:buNone/>
              <a:tabLst>
                <a:tab pos="603885" algn="l"/>
              </a:tabLst>
              <a:defRPr/>
            </a:pPr>
            <a:r>
              <a:rPr lang="en-US" altLang="ko-KR" sz="3000" spc="-30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3.4</a:t>
            </a:r>
            <a:r>
              <a:rPr lang="ko-KR" altLang="en-US" sz="3000" spc="-30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05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인터페이스</a:t>
            </a:r>
            <a:r>
              <a:rPr sz="3000" spc="-185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24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및</a:t>
            </a:r>
            <a:r>
              <a:rPr sz="3000" spc="-1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80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기능</a:t>
            </a:r>
            <a:r>
              <a:rPr sz="3000" spc="-180" dirty="0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 </a:t>
            </a:r>
            <a:r>
              <a:rPr sz="3000" spc="-385" dirty="0" err="1">
                <a:solidFill>
                  <a:srgbClr val="FFFFFF"/>
                </a:solidFill>
                <a:latin typeface="맑은 고딕"/>
                <a:ea typeface="맑은 고딕"/>
                <a:cs typeface="돋움"/>
              </a:rPr>
              <a:t>구현</a:t>
            </a:r>
            <a:endParaRPr sz="3000" spc="-385" dirty="0">
              <a:solidFill>
                <a:srgbClr val="FFFFFF"/>
              </a:solidFill>
              <a:latin typeface="맑은 고딕"/>
              <a:ea typeface="맑은 고딕"/>
              <a:cs typeface="돋움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15" dirty="0"/>
              <a:t>3.1</a:t>
            </a:r>
            <a:r>
              <a:rPr spc="-425" dirty="0"/>
              <a:t> </a:t>
            </a:r>
            <a:r>
              <a:rPr spc="-495" dirty="0" err="1"/>
              <a:t>개발</a:t>
            </a:r>
            <a:r>
              <a:rPr spc="-425" dirty="0"/>
              <a:t> </a:t>
            </a:r>
            <a:r>
              <a:rPr spc="-810" dirty="0" err="1" smtClean="0"/>
              <a:t>도구</a:t>
            </a:r>
            <a:endParaRPr spc="-835" dirty="0"/>
          </a:p>
        </p:txBody>
      </p:sp>
      <p:pic>
        <p:nvPicPr>
          <p:cNvPr id="9" name="그림 8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1989074" y="4610100"/>
            <a:ext cx="3725926" cy="2667000"/>
          </a:xfrm>
          <a:prstGeom prst="rect">
            <a:avLst/>
          </a:prstGeom>
          <a:noFill/>
          <a:ln w="10795" cap="rnd">
            <a:solidFill>
              <a:srgbClr val="7F7F7F"/>
            </a:solidFill>
            <a:prstDash val="solid"/>
            <a:round/>
          </a:ln>
          <a:effectLst/>
        </p:spPr>
      </p:pic>
      <p:pic>
        <p:nvPicPr>
          <p:cNvPr id="10" name="그림 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6561074" y="4533900"/>
            <a:ext cx="4564126" cy="2819400"/>
          </a:xfrm>
          <a:prstGeom prst="rect">
            <a:avLst/>
          </a:prstGeom>
          <a:noFill/>
          <a:ln w="10795" cap="rnd">
            <a:solidFill>
              <a:srgbClr val="999999"/>
            </a:solidFill>
            <a:prstDash val="solid"/>
            <a:round/>
          </a:ln>
          <a:effectLst/>
        </p:spPr>
      </p:pic>
      <p:pic>
        <p:nvPicPr>
          <p:cNvPr id="11" name="그림 10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11797157" y="4533900"/>
            <a:ext cx="4052443" cy="2743200"/>
          </a:xfrm>
          <a:prstGeom prst="rect">
            <a:avLst/>
          </a:prstGeom>
          <a:noFill/>
          <a:ln w="0" cap="rnd">
            <a:solidFill>
              <a:srgbClr val="808080"/>
            </a:solidFill>
            <a:prstDash val="solid"/>
            <a:rou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52600" y="342900"/>
            <a:ext cx="1358836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15" dirty="0"/>
              <a:t>3.2</a:t>
            </a:r>
            <a:r>
              <a:rPr spc="-425" dirty="0"/>
              <a:t> </a:t>
            </a:r>
            <a:r>
              <a:rPr spc="-810" dirty="0"/>
              <a:t>구현</a:t>
            </a:r>
            <a:r>
              <a:rPr spc="-420" dirty="0"/>
              <a:t> </a:t>
            </a:r>
            <a:r>
              <a:rPr spc="-725" dirty="0"/>
              <a:t>프로그램</a:t>
            </a:r>
            <a:r>
              <a:rPr spc="-420" dirty="0"/>
              <a:t> </a:t>
            </a:r>
            <a:r>
              <a:rPr spc="-730" dirty="0"/>
              <a:t>목록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720504"/>
              </p:ext>
            </p:extLst>
          </p:nvPr>
        </p:nvGraphicFramePr>
        <p:xfrm>
          <a:off x="2286000" y="1921907"/>
          <a:ext cx="10820402" cy="7911079"/>
        </p:xfrm>
        <a:graphic>
          <a:graphicData uri="http://schemas.openxmlformats.org/drawingml/2006/table">
            <a:tbl>
              <a:tblPr/>
              <a:tblGrid>
                <a:gridCol w="1568936"/>
                <a:gridCol w="1568936"/>
                <a:gridCol w="1815128"/>
                <a:gridCol w="2209800"/>
                <a:gridCol w="1981200"/>
                <a:gridCol w="1676402"/>
              </a:tblGrid>
              <a:tr h="1938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디렉토리</a:t>
                      </a:r>
                      <a:endParaRPr lang="ko-KR" alt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기능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파일명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작성자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/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0. 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메인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index.jsp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메인화면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895">
                <a:tc rowSpan="29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code</a:t>
                      </a:r>
                      <a:endParaRPr 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1. 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로그인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login.jsp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로그인 폼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logininp.jsp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로그인 필요 경고창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2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loginPro.java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로그인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확인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2. 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회원가입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sign.jsp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회원가입 폼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3.</a:t>
                      </a:r>
                      <a:r>
                        <a:rPr lang="ko-KR" altLang="en-US" sz="900" b="1" kern="0" spc="0" dirty="0" err="1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</a:t>
                      </a:r>
                      <a:endParaRPr lang="ko-KR" alt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bdelete.jsp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삭제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Boin.jsp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추가 폼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 err="1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Boinpro.jsp</a:t>
                      </a:r>
                      <a:endParaRPr 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추가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 dirty="0" err="1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bupdate.jsp</a:t>
                      </a:r>
                      <a:endParaRPr 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수정 폼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budatepro.jsp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수정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Bview.jsp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상세조회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typeb.jsp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게시판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4.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댓글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cdelete.jsp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댓글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삭제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cmtpro.jsp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댓글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추가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5.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delete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삭제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drop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삭제 경고창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signPro.jsp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회원정보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추가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list.jsp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회원목록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update.jsp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회원정보수정 폼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updatePro.jsp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회원정보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수정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6.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로그아웃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logout.jsp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로그아웃 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2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7. 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검사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result.jsp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검사결과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&amp; 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성격유형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DB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수정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survey.jsp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MBTI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검사지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tran.jsp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검사결과해석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tranPro.jsp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삭제예정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8.DTO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BoardDto.java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DTO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CommentDto.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java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댓글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DTO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LoginDto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회원정보 </a:t>
                      </a: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DTO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9.DAO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LoginDao.java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게시글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,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댓글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,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회원 </a:t>
                      </a: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DAO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8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10.</a:t>
                      </a: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메세지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0" spc="0">
                          <a:solidFill>
                            <a:schemeClr val="tx1"/>
                          </a:solidFill>
                          <a:effectLst/>
                          <a:latin typeface="바탕"/>
                        </a:rPr>
                        <a:t>sns.jsp</a:t>
                      </a:r>
                      <a:endParaRPr 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메세지</a:t>
                      </a:r>
                      <a:endParaRPr lang="ko-KR" alt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tx1"/>
                          </a:solidFill>
                          <a:effectLst/>
                          <a:ea typeface="바탕"/>
                        </a:rPr>
                        <a:t>이태윤</a:t>
                      </a:r>
                      <a:endParaRPr lang="ko-KR" altLang="en-US" sz="9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5D5D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8026" marR="48026" marT="13278" marB="1327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503988" y="2365375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30" dirty="0"/>
              <a:t>3.4</a:t>
            </a:r>
            <a:r>
              <a:rPr spc="-425" dirty="0"/>
              <a:t> </a:t>
            </a:r>
            <a:r>
              <a:rPr spc="-650" dirty="0"/>
              <a:t>데이터베이스</a:t>
            </a:r>
            <a:r>
              <a:rPr spc="-420" dirty="0"/>
              <a:t> </a:t>
            </a:r>
            <a:r>
              <a:rPr spc="-740" dirty="0"/>
              <a:t>설계</a:t>
            </a:r>
            <a:r>
              <a:rPr spc="-42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10" dirty="0"/>
              <a:t>구성</a:t>
            </a:r>
            <a:r>
              <a:rPr spc="-420" dirty="0"/>
              <a:t> </a:t>
            </a:r>
            <a:r>
              <a:rPr spc="-665" dirty="0"/>
              <a:t>-</a:t>
            </a:r>
            <a:r>
              <a:rPr spc="-420" dirty="0"/>
              <a:t> </a:t>
            </a:r>
            <a:r>
              <a:rPr spc="-505" dirty="0"/>
              <a:t>ERD</a:t>
            </a:r>
          </a:p>
        </p:txBody>
      </p:sp>
      <p:pic>
        <p:nvPicPr>
          <p:cNvPr id="5" name="그림 4"/>
          <p:cNvPicPr/>
          <p:nvPr/>
        </p:nvPicPr>
        <p:blipFill rotWithShape="1">
          <a:blip r:embed="rId3"/>
          <a:srcRect b="35210"/>
          <a:stretch>
            <a:fillRect/>
          </a:stretch>
        </p:blipFill>
        <p:spPr>
          <a:xfrm>
            <a:off x="2133600" y="3543300"/>
            <a:ext cx="13411200" cy="4724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데이터베이스</a:t>
            </a:r>
            <a:r>
              <a:rPr spc="-425" dirty="0"/>
              <a:t> </a:t>
            </a:r>
            <a:r>
              <a:rPr spc="-740" dirty="0"/>
              <a:t>설계</a:t>
            </a:r>
            <a:r>
              <a:rPr spc="-42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10" dirty="0"/>
              <a:t>구성</a:t>
            </a:r>
            <a:r>
              <a:rPr spc="-420" dirty="0"/>
              <a:t> </a:t>
            </a:r>
            <a:r>
              <a:rPr spc="-665" dirty="0"/>
              <a:t>-</a:t>
            </a:r>
            <a:r>
              <a:rPr spc="-425" dirty="0"/>
              <a:t> </a:t>
            </a:r>
            <a:r>
              <a:rPr spc="-660" dirty="0"/>
              <a:t>테이블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54395" y="3416144"/>
            <a:ext cx="3484245" cy="46053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 spc="-320">
                <a:latin typeface="맑은 고딕"/>
                <a:ea typeface="맑은 고딕"/>
                <a:cs typeface="돋움"/>
              </a:rPr>
              <a:t>[테이블명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>
                <a:latin typeface="맑은 고딕"/>
                <a:ea typeface="맑은 고딕"/>
                <a:cs typeface="돋움"/>
              </a:rPr>
              <a:t>: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 spc="-175">
                <a:latin typeface="맑은 고딕"/>
                <a:ea typeface="맑은 고딕"/>
                <a:cs typeface="돋움"/>
              </a:rPr>
              <a:t>mbtilogin]</a:t>
            </a:r>
            <a:endParaRPr sz="3000">
              <a:latin typeface="맑은 고딕"/>
              <a:ea typeface="맑은 고딕"/>
              <a:cs typeface="돋움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667001" y="4229100"/>
          <a:ext cx="11125705" cy="3726180"/>
        </p:xfrm>
        <a:graphic>
          <a:graphicData uri="http://schemas.openxmlformats.org/drawingml/2006/table">
            <a:tbl>
              <a:tblPr firstRow="1" bandRow="1"/>
              <a:tblGrid>
                <a:gridCol w="764856"/>
                <a:gridCol w="2277936"/>
                <a:gridCol w="2340612"/>
                <a:gridCol w="1451440"/>
                <a:gridCol w="1327647"/>
                <a:gridCol w="1404367"/>
                <a:gridCol w="1558847"/>
              </a:tblGrid>
              <a:tr h="510540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 설명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형태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NULL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 고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</a:tr>
              <a:tr h="3215640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pwd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name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chacer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udate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pNumber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email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gender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아이디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성격유형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생년월일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전화번호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성별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DATE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NOT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PK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3"/>
            <a:ext cx="18265773" cy="5619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데이터베이스</a:t>
            </a:r>
            <a:r>
              <a:rPr spc="-425" dirty="0"/>
              <a:t> </a:t>
            </a:r>
            <a:r>
              <a:rPr spc="-740" dirty="0"/>
              <a:t>설계</a:t>
            </a:r>
            <a:r>
              <a:rPr spc="-42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10" dirty="0"/>
              <a:t>구성</a:t>
            </a:r>
            <a:r>
              <a:rPr spc="-420" dirty="0"/>
              <a:t> </a:t>
            </a:r>
            <a:r>
              <a:rPr spc="-665" dirty="0"/>
              <a:t>-</a:t>
            </a:r>
            <a:r>
              <a:rPr spc="-425" dirty="0"/>
              <a:t> </a:t>
            </a:r>
            <a:r>
              <a:rPr spc="-660" dirty="0"/>
              <a:t>테이블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78939" y="3416148"/>
            <a:ext cx="3635375" cy="46052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 spc="-320">
                <a:latin typeface="맑은 고딕"/>
                <a:ea typeface="맑은 고딕"/>
                <a:cs typeface="돋움"/>
              </a:rPr>
              <a:t>[테이블명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>
                <a:latin typeface="맑은 고딕"/>
                <a:ea typeface="맑은 고딕"/>
                <a:cs typeface="돋움"/>
              </a:rPr>
              <a:t>: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 spc="-200">
                <a:latin typeface="맑은 고딕"/>
                <a:ea typeface="맑은 고딕"/>
                <a:cs typeface="돋움"/>
              </a:rPr>
              <a:t>mbtiboard]</a:t>
            </a:r>
            <a:endParaRPr sz="3000">
              <a:latin typeface="맑은 고딕"/>
              <a:ea typeface="맑은 고딕"/>
              <a:cs typeface="돋움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688658" y="4271482"/>
          <a:ext cx="11103538" cy="4113276"/>
        </p:xfrm>
        <a:graphic>
          <a:graphicData uri="http://schemas.openxmlformats.org/drawingml/2006/table">
            <a:tbl>
              <a:tblPr firstRow="1" bandRow="1"/>
              <a:tblGrid>
                <a:gridCol w="769612"/>
                <a:gridCol w="2271245"/>
                <a:gridCol w="2333736"/>
                <a:gridCol w="1450687"/>
                <a:gridCol w="1323747"/>
                <a:gridCol w="1400242"/>
                <a:gridCol w="1554269"/>
              </a:tblGrid>
              <a:tr h="510540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 설명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형태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NULL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 고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</a:tr>
              <a:tr h="3215640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bid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uid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boardtype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btitle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board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bname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bdate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boardview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번호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 아이디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게시판유형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제목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내용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글쓴이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작성날짜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조회수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INTEGER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INTEGER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NOT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PK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foreign key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데이터베이스</a:t>
            </a:r>
            <a:r>
              <a:rPr spc="-425" dirty="0"/>
              <a:t> </a:t>
            </a:r>
            <a:r>
              <a:rPr spc="-740" dirty="0"/>
              <a:t>설계</a:t>
            </a:r>
            <a:r>
              <a:rPr spc="-42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10" dirty="0"/>
              <a:t>구성</a:t>
            </a:r>
            <a:r>
              <a:rPr spc="-420" dirty="0"/>
              <a:t> </a:t>
            </a:r>
            <a:r>
              <a:rPr spc="-665" dirty="0"/>
              <a:t>-</a:t>
            </a:r>
            <a:r>
              <a:rPr spc="-425" dirty="0"/>
              <a:t> </a:t>
            </a:r>
            <a:r>
              <a:rPr spc="-660" dirty="0"/>
              <a:t>테이블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05840" y="3416143"/>
            <a:ext cx="4181475" cy="46053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000" spc="-320">
                <a:latin typeface="맑은 고딕"/>
                <a:ea typeface="맑은 고딕"/>
                <a:cs typeface="돋움"/>
              </a:rPr>
              <a:t>[테이블명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>
                <a:latin typeface="맑은 고딕"/>
                <a:ea typeface="맑은 고딕"/>
                <a:cs typeface="돋움"/>
              </a:rPr>
              <a:t>:</a:t>
            </a:r>
            <a:r>
              <a:rPr sz="3000" spc="-155">
                <a:latin typeface="맑은 고딕"/>
                <a:ea typeface="맑은 고딕"/>
                <a:cs typeface="돋움"/>
              </a:rPr>
              <a:t> </a:t>
            </a:r>
            <a:r>
              <a:rPr sz="3000" spc="-270">
                <a:latin typeface="맑은 고딕"/>
                <a:ea typeface="맑은 고딕"/>
                <a:cs typeface="돋움"/>
              </a:rPr>
              <a:t>mbticomment]</a:t>
            </a:r>
            <a:endParaRPr sz="3000">
              <a:latin typeface="맑은 고딕"/>
              <a:ea typeface="맑은 고딕"/>
              <a:cs typeface="돋움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590800" y="4305300"/>
          <a:ext cx="11277597" cy="4191000"/>
        </p:xfrm>
        <a:graphic>
          <a:graphicData uri="http://schemas.openxmlformats.org/drawingml/2006/table">
            <a:tbl>
              <a:tblPr firstRow="1" bandRow="1"/>
              <a:tblGrid>
                <a:gridCol w="775346"/>
                <a:gridCol w="2309952"/>
                <a:gridCol w="2373510"/>
                <a:gridCol w="1467620"/>
                <a:gridCol w="1346307"/>
                <a:gridCol w="1424105"/>
                <a:gridCol w="1580757"/>
              </a:tblGrid>
              <a:tr h="574227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 설명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형태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길이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NULL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 고</a:t>
                      </a:r>
                    </a:p>
                  </a:txBody>
                  <a:tcPr anchor="ctr"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E6E6E6">
                        <a:alpha val="100000"/>
                      </a:srgbClr>
                    </a:solidFill>
                  </a:tcPr>
                </a:tc>
              </a:tr>
              <a:tr h="3616773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cnum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uid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cbid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cname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cmt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chacter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cdate 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댓글의 고유번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작성자 아이디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테이블의 글 번호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댓글 작성자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댓글 내용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 유형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댓글 작성일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INTEGER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INTEGER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VARCHAR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NOT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PK</a:t>
                      </a: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foreign key</a:t>
                      </a:r>
                    </a:p>
                  </a:txBody>
                  <a:tcPr>
                    <a:lnL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5D5D5D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9548" y="495300"/>
            <a:ext cx="1532890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5" dirty="0"/>
              <a:t>인터페이스</a:t>
            </a:r>
            <a:r>
              <a:rPr spc="-430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880" dirty="0"/>
              <a:t>기능</a:t>
            </a:r>
            <a:r>
              <a:rPr spc="-425" dirty="0"/>
              <a:t> </a:t>
            </a:r>
            <a:r>
              <a:rPr spc="-810" dirty="0" err="1"/>
              <a:t>구현</a:t>
            </a:r>
            <a:r>
              <a:rPr spc="-425" dirty="0"/>
              <a:t> </a:t>
            </a:r>
            <a:r>
              <a:rPr lang="en-US" altLang="ko-KR" spc="-665" dirty="0" smtClean="0"/>
              <a:t>–</a:t>
            </a:r>
            <a:r>
              <a:rPr spc="-430" dirty="0" smtClean="0"/>
              <a:t> </a:t>
            </a:r>
            <a:r>
              <a:rPr lang="ko-KR" altLang="en-US" spc="-430" dirty="0" smtClean="0"/>
              <a:t>시연영상</a:t>
            </a:r>
            <a:r>
              <a:rPr lang="en-US" altLang="ko-KR" spc="-430" dirty="0" smtClean="0"/>
              <a:t/>
            </a:r>
            <a:br>
              <a:rPr lang="en-US" altLang="ko-KR" spc="-430" dirty="0" smtClean="0"/>
            </a:br>
            <a:r>
              <a:rPr lang="en-US" altLang="ko-KR" spc="-430" dirty="0"/>
              <a:t/>
            </a:r>
            <a:br>
              <a:rPr lang="en-US" altLang="ko-KR" spc="-430" dirty="0"/>
            </a:br>
            <a:r>
              <a:rPr lang="ko-KR" altLang="en-US" spc="-430" dirty="0" smtClean="0"/>
              <a:t>영상 등록이 되지 않아 </a:t>
            </a:r>
            <a:r>
              <a:rPr lang="ko-KR" altLang="en-US" spc="-430" dirty="0" err="1" smtClean="0"/>
              <a:t>별침</a:t>
            </a:r>
            <a:r>
              <a:rPr lang="ko-KR" altLang="en-US" spc="-430" dirty="0" smtClean="0"/>
              <a:t> 으로 첨부하겠습니다</a:t>
            </a:r>
            <a:r>
              <a:rPr lang="en-US" altLang="ko-KR" spc="-430" dirty="0" smtClean="0"/>
              <a:t>.</a:t>
            </a:r>
            <a:endParaRPr spc="-555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57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4075" y="2436824"/>
            <a:ext cx="794956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80" dirty="0">
                <a:solidFill>
                  <a:srgbClr val="FFFFFF"/>
                </a:solidFill>
              </a:rPr>
              <a:t>4.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690" dirty="0">
                <a:solidFill>
                  <a:srgbClr val="FFFFFF"/>
                </a:solidFill>
              </a:rPr>
              <a:t>기대효과</a:t>
            </a:r>
            <a:r>
              <a:rPr spc="-420" dirty="0">
                <a:solidFill>
                  <a:srgbClr val="FFFFFF"/>
                </a:solidFill>
              </a:rPr>
              <a:t> </a:t>
            </a:r>
            <a:r>
              <a:rPr spc="-560" dirty="0">
                <a:solidFill>
                  <a:srgbClr val="FFFFFF"/>
                </a:solidFill>
              </a:rPr>
              <a:t>및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545" dirty="0">
                <a:solidFill>
                  <a:srgbClr val="FFFFFF"/>
                </a:solidFill>
              </a:rPr>
              <a:t>맺음말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0" dirty="0"/>
              <a:t>기대효과</a:t>
            </a:r>
            <a:r>
              <a:rPr spc="-425" dirty="0"/>
              <a:t> </a:t>
            </a:r>
            <a:r>
              <a:rPr spc="-560" dirty="0"/>
              <a:t>및</a:t>
            </a:r>
            <a:r>
              <a:rPr spc="-420" dirty="0"/>
              <a:t> </a:t>
            </a:r>
            <a:r>
              <a:rPr spc="-545" dirty="0"/>
              <a:t>맺음말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209800" y="3619500"/>
            <a:ext cx="111252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1"/>
            <a:r>
              <a:rPr lang="ko-KR" altLang="en-US" sz="3500" dirty="0">
                <a:latin typeface="+mn-ea"/>
                <a:ea typeface="+mn-ea"/>
              </a:rPr>
              <a:t>회원들 끼리 대화를 주고 받으면서 서로 다른 성격유형별 특징과 여러 사람들과 소통을 하면서 공감능력과 대화하는 방법들을 기를 수 있다</a:t>
            </a:r>
            <a:r>
              <a:rPr lang="en-US" altLang="ko-KR" sz="3500" dirty="0">
                <a:latin typeface="+mn-ea"/>
                <a:ea typeface="+mn-ea"/>
              </a:rPr>
              <a:t>.</a:t>
            </a:r>
            <a:endParaRPr lang="ko-KR" altLang="en-US" sz="35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60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4075" y="2436828"/>
            <a:ext cx="438594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35" dirty="0">
                <a:solidFill>
                  <a:srgbClr val="FFFFFF"/>
                </a:solidFill>
              </a:rPr>
              <a:t>5.</a:t>
            </a:r>
            <a:r>
              <a:rPr spc="-430" dirty="0">
                <a:solidFill>
                  <a:srgbClr val="FFFFFF"/>
                </a:solidFill>
              </a:rPr>
              <a:t> </a:t>
            </a:r>
            <a:r>
              <a:rPr spc="-705" dirty="0">
                <a:solidFill>
                  <a:srgbClr val="FFFFFF"/>
                </a:solidFill>
              </a:rPr>
              <a:t>팀원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800" dirty="0">
                <a:solidFill>
                  <a:srgbClr val="FFFFFF"/>
                </a:solidFill>
              </a:rPr>
              <a:t>소감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5" dirty="0"/>
              <a:t>팀원</a:t>
            </a:r>
            <a:r>
              <a:rPr spc="-425" dirty="0"/>
              <a:t> </a:t>
            </a:r>
            <a:r>
              <a:rPr spc="-810" dirty="0"/>
              <a:t>소감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752600" y="2781300"/>
            <a:ext cx="140208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ko-KR" altLang="en-US" sz="2200" b="1" dirty="0">
                <a:latin typeface="+mn-ea"/>
                <a:ea typeface="+mn-ea"/>
              </a:rPr>
              <a:t>팀원 </a:t>
            </a:r>
            <a:r>
              <a:rPr lang="en-US" altLang="ko-KR" sz="2200" b="1" dirty="0">
                <a:latin typeface="+mn-ea"/>
                <a:ea typeface="+mn-ea"/>
              </a:rPr>
              <a:t>: </a:t>
            </a:r>
            <a:r>
              <a:rPr lang="ko-KR" altLang="en-US" sz="2200" b="1" dirty="0">
                <a:latin typeface="+mn-ea"/>
                <a:ea typeface="+mn-ea"/>
              </a:rPr>
              <a:t>이태윤</a:t>
            </a:r>
          </a:p>
          <a:p>
            <a:pPr fontAlgn="base" latinLnBrk="0"/>
            <a:r>
              <a:rPr lang="ko-KR" altLang="en-US" sz="2200" dirty="0">
                <a:latin typeface="+mn-ea"/>
                <a:ea typeface="+mn-ea"/>
              </a:rPr>
              <a:t>처음에는 군대를 </a:t>
            </a:r>
            <a:r>
              <a:rPr lang="ko-KR" altLang="en-US" sz="2200" dirty="0" smtClean="0">
                <a:latin typeface="+mn-ea"/>
                <a:ea typeface="+mn-ea"/>
              </a:rPr>
              <a:t>갔다 와서 </a:t>
            </a:r>
            <a:r>
              <a:rPr lang="ko-KR" altLang="en-US" sz="2200" dirty="0">
                <a:latin typeface="+mn-ea"/>
                <a:ea typeface="+mn-ea"/>
              </a:rPr>
              <a:t>많은 것을 까먹고 무서웠습니다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하지만 </a:t>
            </a:r>
            <a:r>
              <a:rPr lang="ko-KR" altLang="en-US" sz="2200" dirty="0" smtClean="0">
                <a:latin typeface="+mn-ea"/>
                <a:ea typeface="+mn-ea"/>
              </a:rPr>
              <a:t>수업 중 </a:t>
            </a:r>
            <a:r>
              <a:rPr lang="ko-KR" altLang="en-US" sz="2200" dirty="0">
                <a:latin typeface="+mn-ea"/>
                <a:ea typeface="+mn-ea"/>
              </a:rPr>
              <a:t>기말과제로 </a:t>
            </a:r>
            <a:r>
              <a:rPr lang="ko-KR" altLang="en-US" sz="2200" dirty="0" err="1">
                <a:latin typeface="+mn-ea"/>
                <a:ea typeface="+mn-ea"/>
              </a:rPr>
              <a:t>팀프로젝트를</a:t>
            </a:r>
            <a:r>
              <a:rPr lang="ko-KR" altLang="en-US" sz="2200" dirty="0">
                <a:latin typeface="+mn-ea"/>
                <a:ea typeface="+mn-ea"/>
              </a:rPr>
              <a:t> 처음 듣고 내가 잘 할 수 있을까 내가 팀원들에게 민폐를 끼치진 않을까 라는 걱정과 내가 직접 만들어보는 프로젝트에 기대 반으로 프로젝트에 임하게 됐습니다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처음에는 이리저리 합이 잘 맞지 않고 의견이 잘 모아지지 않았지만 끊임없이 팀원들과 이야기와 조율을 하면서 </a:t>
            </a:r>
            <a:r>
              <a:rPr lang="ko-KR" altLang="en-US" sz="2200" dirty="0" smtClean="0">
                <a:latin typeface="+mn-ea"/>
                <a:ea typeface="+mn-ea"/>
              </a:rPr>
              <a:t>더 나은 </a:t>
            </a:r>
            <a:r>
              <a:rPr lang="ko-KR" altLang="en-US" sz="2200" dirty="0">
                <a:latin typeface="+mn-ea"/>
                <a:ea typeface="+mn-ea"/>
              </a:rPr>
              <a:t>방안과 대안을 세우면서 차츰 차츰 뼈대를 갖추면서 프로젝트를 만들어 나아갔습니다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그렇게 하면서 걱정과는 달리 너무 재미있고 내가 이걸 해결해 </a:t>
            </a:r>
            <a:r>
              <a:rPr lang="ko-KR" altLang="en-US" sz="2200" dirty="0" smtClean="0">
                <a:latin typeface="+mn-ea"/>
                <a:ea typeface="+mn-ea"/>
              </a:rPr>
              <a:t>나갈 때마다 </a:t>
            </a:r>
            <a:r>
              <a:rPr lang="ko-KR" altLang="en-US" sz="2200" dirty="0">
                <a:latin typeface="+mn-ea"/>
                <a:ea typeface="+mn-ea"/>
              </a:rPr>
              <a:t>희열과 흥미 재미를 느끼면서 참 재미있었습니다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그리고 또한 </a:t>
            </a:r>
            <a:r>
              <a:rPr lang="ko-KR" altLang="en-US" sz="2200" dirty="0" smtClean="0">
                <a:latin typeface="+mn-ea"/>
                <a:ea typeface="+mn-ea"/>
              </a:rPr>
              <a:t>군말 없이 </a:t>
            </a:r>
            <a:r>
              <a:rPr lang="ko-KR" altLang="en-US" sz="2200" dirty="0">
                <a:latin typeface="+mn-ea"/>
                <a:ea typeface="+mn-ea"/>
              </a:rPr>
              <a:t>저의 의견과 이야기에 경청해주고 따라와준 지원이와 준민이에게 정말 고맙고 수고했다는 말을 전하고 싶습니다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endParaRPr lang="ko-KR" altLang="en-US" sz="2200" dirty="0">
              <a:latin typeface="+mn-ea"/>
              <a:ea typeface="+mn-ea"/>
            </a:endParaRPr>
          </a:p>
          <a:p>
            <a:pPr fontAlgn="base" latinLnBrk="0"/>
            <a:r>
              <a:rPr lang="ko-KR" altLang="en-US" sz="2200" b="1" dirty="0">
                <a:latin typeface="+mn-ea"/>
                <a:ea typeface="+mn-ea"/>
              </a:rPr>
              <a:t>팀원 </a:t>
            </a:r>
            <a:r>
              <a:rPr lang="en-US" altLang="ko-KR" sz="2200" b="1" dirty="0">
                <a:latin typeface="+mn-ea"/>
                <a:ea typeface="+mn-ea"/>
              </a:rPr>
              <a:t>: </a:t>
            </a:r>
            <a:r>
              <a:rPr lang="ko-KR" altLang="en-US" sz="2200" b="1" dirty="0">
                <a:latin typeface="+mn-ea"/>
                <a:ea typeface="+mn-ea"/>
              </a:rPr>
              <a:t>이준민</a:t>
            </a:r>
          </a:p>
          <a:p>
            <a:pPr fontAlgn="base" latinLnBrk="0"/>
            <a:r>
              <a:rPr lang="ko-KR" altLang="en-US" sz="2200" dirty="0" err="1">
                <a:latin typeface="+mn-ea"/>
                <a:ea typeface="+mn-ea"/>
              </a:rPr>
              <a:t>팀프로젝트를</a:t>
            </a:r>
            <a:r>
              <a:rPr lang="ko-KR" altLang="en-US" sz="2200" dirty="0">
                <a:latin typeface="+mn-ea"/>
                <a:ea typeface="+mn-ea"/>
              </a:rPr>
              <a:t> 하면서 코딩능력이 부족한 저지만 사이트를 만들어 보고 하는 과정에서</a:t>
            </a:r>
          </a:p>
          <a:p>
            <a:pPr fontAlgn="base" latinLnBrk="0"/>
            <a:r>
              <a:rPr lang="ko-KR" altLang="en-US" sz="2200" dirty="0">
                <a:latin typeface="+mn-ea"/>
                <a:ea typeface="+mn-ea"/>
              </a:rPr>
              <a:t>성취감을 느꼈습니다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그리고 노력하는 팀원을 보며 열정을 느꼈으며</a:t>
            </a:r>
            <a:r>
              <a:rPr lang="en-US" altLang="ko-KR" sz="2200" dirty="0">
                <a:latin typeface="+mn-ea"/>
                <a:ea typeface="+mn-ea"/>
              </a:rPr>
              <a:t>, </a:t>
            </a:r>
            <a:r>
              <a:rPr lang="ko-KR" altLang="en-US" sz="2200" dirty="0">
                <a:latin typeface="+mn-ea"/>
                <a:ea typeface="+mn-ea"/>
              </a:rPr>
              <a:t>이 수업에 진지하게 참여하게 되었습니다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팀원들이 너무 열심히 해줘서 고마웠습니다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endParaRPr lang="ko-KR" altLang="en-US" sz="2200" dirty="0">
              <a:latin typeface="+mn-ea"/>
              <a:ea typeface="+mn-ea"/>
            </a:endParaRPr>
          </a:p>
          <a:p>
            <a:pPr fontAlgn="base" latinLnBrk="0"/>
            <a:r>
              <a:rPr lang="ko-KR" altLang="en-US" sz="2200" b="1" dirty="0">
                <a:latin typeface="+mn-ea"/>
                <a:ea typeface="+mn-ea"/>
              </a:rPr>
              <a:t>팀원 </a:t>
            </a:r>
            <a:r>
              <a:rPr lang="en-US" altLang="ko-KR" sz="2200" b="1" dirty="0">
                <a:latin typeface="+mn-ea"/>
                <a:ea typeface="+mn-ea"/>
              </a:rPr>
              <a:t>: </a:t>
            </a:r>
            <a:r>
              <a:rPr lang="ko-KR" altLang="en-US" sz="2200" b="1" dirty="0">
                <a:latin typeface="+mn-ea"/>
                <a:ea typeface="+mn-ea"/>
              </a:rPr>
              <a:t>전지원</a:t>
            </a:r>
          </a:p>
          <a:p>
            <a:pPr fontAlgn="base" latinLnBrk="0"/>
            <a:r>
              <a:rPr lang="ko-KR" altLang="en-US" sz="2200" dirty="0">
                <a:latin typeface="+mn-ea"/>
                <a:ea typeface="+mn-ea"/>
              </a:rPr>
              <a:t>저는 이번 팀 프로젝트로 끝남으로 나머지 </a:t>
            </a:r>
            <a:r>
              <a:rPr lang="en-US" altLang="ko-KR" sz="2200" dirty="0">
                <a:latin typeface="+mn-ea"/>
                <a:ea typeface="+mn-ea"/>
              </a:rPr>
              <a:t>2</a:t>
            </a:r>
            <a:r>
              <a:rPr lang="ko-KR" altLang="en-US" sz="2200" dirty="0">
                <a:latin typeface="+mn-ea"/>
                <a:ea typeface="+mn-ea"/>
              </a:rPr>
              <a:t>명 이태윤</a:t>
            </a:r>
            <a:r>
              <a:rPr lang="en-US" altLang="ko-KR" sz="2200" dirty="0">
                <a:latin typeface="+mn-ea"/>
                <a:ea typeface="+mn-ea"/>
              </a:rPr>
              <a:t>(</a:t>
            </a:r>
            <a:r>
              <a:rPr lang="ko-KR" altLang="en-US" sz="2200" dirty="0">
                <a:latin typeface="+mn-ea"/>
                <a:ea typeface="+mn-ea"/>
              </a:rPr>
              <a:t>팀장</a:t>
            </a:r>
            <a:r>
              <a:rPr lang="en-US" altLang="ko-KR" sz="2200" dirty="0">
                <a:latin typeface="+mn-ea"/>
                <a:ea typeface="+mn-ea"/>
              </a:rPr>
              <a:t>), </a:t>
            </a:r>
            <a:r>
              <a:rPr lang="ko-KR" altLang="en-US" sz="2200" dirty="0">
                <a:latin typeface="+mn-ea"/>
                <a:ea typeface="+mn-ea"/>
              </a:rPr>
              <a:t>이준민</a:t>
            </a:r>
            <a:r>
              <a:rPr lang="en-US" altLang="ko-KR" sz="2200" dirty="0">
                <a:latin typeface="+mn-ea"/>
                <a:ea typeface="+mn-ea"/>
              </a:rPr>
              <a:t>(</a:t>
            </a:r>
            <a:r>
              <a:rPr lang="ko-KR" altLang="en-US" sz="2200" dirty="0">
                <a:latin typeface="+mn-ea"/>
                <a:ea typeface="+mn-ea"/>
              </a:rPr>
              <a:t>팀원</a:t>
            </a:r>
            <a:r>
              <a:rPr lang="en-US" altLang="ko-KR" sz="2200" dirty="0">
                <a:latin typeface="+mn-ea"/>
                <a:ea typeface="+mn-ea"/>
              </a:rPr>
              <a:t>) </a:t>
            </a:r>
            <a:r>
              <a:rPr lang="ko-KR" altLang="en-US" sz="2200" dirty="0">
                <a:latin typeface="+mn-ea"/>
                <a:ea typeface="+mn-ea"/>
              </a:rPr>
              <a:t>고생했다는 생각이 들었습니다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물론 저도 어떻게든 </a:t>
            </a:r>
            <a:r>
              <a:rPr lang="ko-KR" altLang="en-US" sz="2200" dirty="0" err="1">
                <a:latin typeface="+mn-ea"/>
                <a:ea typeface="+mn-ea"/>
              </a:rPr>
              <a:t>도우고</a:t>
            </a:r>
            <a:r>
              <a:rPr lang="ko-KR" altLang="en-US" sz="2200" dirty="0">
                <a:latin typeface="+mn-ea"/>
                <a:ea typeface="+mn-ea"/>
              </a:rPr>
              <a:t> 열심히 했지만 저보다도 열심히 한 팀원과 팀장님에게 칭찬하고 싶습니다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처음에는 어떻게 할지 잘 몰랐지만 팀장님의 역할 분배로 맡아준 역할에 충실히 하였고 준민이도 열심히 해서 팀 프로젝트에 큰 기여 했습니다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시작부터 해서 지금까지 해온 팀 프로젝트는 힘들었지만 혼자 하는 것 보단 여럿이 </a:t>
            </a:r>
            <a:r>
              <a:rPr lang="ko-KR" altLang="en-US" sz="2200" dirty="0" err="1">
                <a:latin typeface="+mn-ea"/>
                <a:ea typeface="+mn-ea"/>
              </a:rPr>
              <a:t>하는게</a:t>
            </a:r>
            <a:r>
              <a:rPr lang="ko-KR" altLang="en-US" sz="2200" dirty="0">
                <a:latin typeface="+mn-ea"/>
                <a:ea typeface="+mn-ea"/>
              </a:rPr>
              <a:t> 더 공부되고 더 성취감을 느꼈던 것 같았습니다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r>
              <a:rPr lang="ko-KR" altLang="en-US" sz="2200" dirty="0">
                <a:latin typeface="+mn-ea"/>
                <a:ea typeface="+mn-ea"/>
              </a:rPr>
              <a:t>팀 프로젝트 하느라 모두 수고하셨습니다</a:t>
            </a:r>
            <a:r>
              <a:rPr lang="en-US" altLang="ko-KR" sz="2200" dirty="0">
                <a:latin typeface="+mn-ea"/>
                <a:ea typeface="+mn-ea"/>
              </a:rPr>
              <a:t>. </a:t>
            </a:r>
            <a:endParaRPr lang="ko-KR" altLang="en-US" sz="2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65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4075" y="2436829"/>
            <a:ext cx="1002220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35" dirty="0">
                <a:solidFill>
                  <a:srgbClr val="FFFFFF"/>
                </a:solidFill>
              </a:rPr>
              <a:t>6.</a:t>
            </a:r>
            <a:r>
              <a:rPr spc="-440" dirty="0">
                <a:solidFill>
                  <a:srgbClr val="FFFFFF"/>
                </a:solidFill>
              </a:rPr>
              <a:t> </a:t>
            </a:r>
            <a:r>
              <a:rPr spc="-670" dirty="0">
                <a:solidFill>
                  <a:srgbClr val="FFFFFF"/>
                </a:solidFill>
              </a:rPr>
              <a:t>참고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670" dirty="0">
                <a:solidFill>
                  <a:srgbClr val="FFFFFF"/>
                </a:solidFill>
              </a:rPr>
              <a:t>자료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560" dirty="0">
                <a:solidFill>
                  <a:srgbClr val="FFFFFF"/>
                </a:solidFill>
              </a:rPr>
              <a:t>및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670" dirty="0">
                <a:solidFill>
                  <a:srgbClr val="FFFFFF"/>
                </a:solidFill>
              </a:rPr>
              <a:t>참고</a:t>
            </a:r>
            <a:r>
              <a:rPr spc="-425" dirty="0">
                <a:solidFill>
                  <a:srgbClr val="FFFFFF"/>
                </a:solidFill>
              </a:rPr>
              <a:t> </a:t>
            </a:r>
            <a:r>
              <a:rPr spc="-775" dirty="0">
                <a:solidFill>
                  <a:srgbClr val="FFFFFF"/>
                </a:solidFill>
              </a:rPr>
              <a:t>사이트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9715500"/>
            <a:ext cx="18265773" cy="561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참고</a:t>
            </a:r>
            <a:r>
              <a:rPr spc="-430" dirty="0"/>
              <a:t> </a:t>
            </a:r>
            <a:r>
              <a:rPr spc="-670" dirty="0"/>
              <a:t>자료</a:t>
            </a:r>
            <a:r>
              <a:rPr spc="-425" dirty="0"/>
              <a:t> </a:t>
            </a:r>
            <a:r>
              <a:rPr spc="-560" dirty="0"/>
              <a:t>및</a:t>
            </a:r>
            <a:r>
              <a:rPr spc="-425" dirty="0"/>
              <a:t> </a:t>
            </a:r>
            <a:r>
              <a:rPr spc="-670" dirty="0"/>
              <a:t>참고</a:t>
            </a:r>
            <a:r>
              <a:rPr spc="-425" dirty="0"/>
              <a:t> </a:t>
            </a:r>
            <a:r>
              <a:rPr spc="-775" dirty="0"/>
              <a:t>사이트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057400" y="3619500"/>
            <a:ext cx="9144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 latinLnBrk="0"/>
            <a:r>
              <a:rPr lang="en-US" altLang="ko-KR" sz="4000" dirty="0">
                <a:latin typeface="+mn-ea"/>
                <a:ea typeface="+mn-ea"/>
              </a:rPr>
              <a:t>1.</a:t>
            </a:r>
            <a:r>
              <a:rPr lang="en-US" altLang="ko-KR" sz="4000" u="sng" dirty="0">
                <a:latin typeface="+mn-ea"/>
                <a:ea typeface="+mn-ea"/>
                <a:hlinkClick r:id="rId3"/>
              </a:rPr>
              <a:t>MBTI</a:t>
            </a:r>
            <a:r>
              <a:rPr lang="ko-KR" altLang="en-US" sz="4000" u="sng" dirty="0">
                <a:latin typeface="+mn-ea"/>
                <a:ea typeface="+mn-ea"/>
                <a:hlinkClick r:id="rId3"/>
              </a:rPr>
              <a:t>성격 유형 검사 사이트</a:t>
            </a:r>
            <a:endParaRPr lang="ko-KR" altLang="en-US" sz="4000" dirty="0">
              <a:latin typeface="+mn-ea"/>
              <a:ea typeface="+mn-ea"/>
            </a:endParaRPr>
          </a:p>
          <a:p>
            <a:pPr lvl="0" fontAlgn="base" latinLnBrk="0"/>
            <a:r>
              <a:rPr lang="en-US" altLang="ko-KR" sz="4000" dirty="0">
                <a:latin typeface="+mn-ea"/>
                <a:ea typeface="+mn-ea"/>
              </a:rPr>
              <a:t>2.</a:t>
            </a:r>
            <a:r>
              <a:rPr lang="en-US" altLang="ko-KR" sz="4000" u="sng" dirty="0">
                <a:latin typeface="+mn-ea"/>
                <a:ea typeface="+mn-ea"/>
                <a:hlinkClick r:id="rId4"/>
              </a:rPr>
              <a:t>MBTI</a:t>
            </a:r>
            <a:r>
              <a:rPr lang="ko-KR" altLang="en-US" sz="4000" u="sng" dirty="0" err="1">
                <a:latin typeface="+mn-ea"/>
                <a:ea typeface="+mn-ea"/>
                <a:hlinkClick r:id="rId4"/>
              </a:rPr>
              <a:t>궁합표</a:t>
            </a:r>
            <a:endParaRPr lang="ko-KR" altLang="en-US" sz="4000" dirty="0">
              <a:latin typeface="+mn-ea"/>
              <a:ea typeface="+mn-ea"/>
            </a:endParaRPr>
          </a:p>
          <a:p>
            <a:pPr lvl="0" fontAlgn="base" latinLnBrk="0"/>
            <a:r>
              <a:rPr lang="en-US" altLang="ko-KR" sz="4000" dirty="0">
                <a:latin typeface="+mn-ea"/>
                <a:ea typeface="+mn-ea"/>
              </a:rPr>
              <a:t>3.</a:t>
            </a:r>
            <a:r>
              <a:rPr lang="ko-KR" altLang="en-US" sz="4000" u="sng" dirty="0">
                <a:latin typeface="+mn-ea"/>
                <a:ea typeface="+mn-ea"/>
                <a:hlinkClick r:id="rId5"/>
              </a:rPr>
              <a:t>성격종류</a:t>
            </a:r>
            <a:endParaRPr lang="ko-KR" altLang="en-US" sz="4000" dirty="0">
              <a:latin typeface="+mn-ea"/>
              <a:ea typeface="+mn-ea"/>
            </a:endParaRPr>
          </a:p>
          <a:p>
            <a:pPr lvl="0" fontAlgn="base" latinLnBrk="0"/>
            <a:r>
              <a:rPr lang="en-US" altLang="ko-KR" sz="4000" dirty="0">
                <a:latin typeface="+mn-ea"/>
                <a:ea typeface="+mn-ea"/>
              </a:rPr>
              <a:t>4.</a:t>
            </a:r>
            <a:r>
              <a:rPr lang="en-US" altLang="ko-KR" sz="4000" u="sng" dirty="0">
                <a:latin typeface="+mn-ea"/>
                <a:ea typeface="+mn-ea"/>
                <a:hlinkClick r:id="rId6"/>
              </a:rPr>
              <a:t>MBTI </a:t>
            </a:r>
            <a:r>
              <a:rPr lang="ko-KR" altLang="en-US" sz="4000" u="sng" dirty="0">
                <a:latin typeface="+mn-ea"/>
                <a:ea typeface="+mn-ea"/>
                <a:hlinkClick r:id="rId6"/>
              </a:rPr>
              <a:t>사이트 만들기</a:t>
            </a:r>
            <a:endParaRPr lang="ko-KR" altLang="en-US" sz="4000" dirty="0">
              <a:latin typeface="+mn-ea"/>
              <a:ea typeface="+mn-ea"/>
            </a:endParaRPr>
          </a:p>
          <a:p>
            <a:pPr lvl="0" fontAlgn="base" latinLnBrk="0"/>
            <a:r>
              <a:rPr lang="en-US" altLang="ko-KR" sz="4000" dirty="0">
                <a:latin typeface="+mn-ea"/>
                <a:ea typeface="+mn-ea"/>
              </a:rPr>
              <a:t>5.</a:t>
            </a:r>
            <a:r>
              <a:rPr lang="en-US" altLang="ko-KR" sz="4000" u="sng" dirty="0">
                <a:latin typeface="+mn-ea"/>
                <a:ea typeface="+mn-ea"/>
                <a:hlinkClick r:id="rId7"/>
              </a:rPr>
              <a:t>MBTI </a:t>
            </a:r>
            <a:r>
              <a:rPr lang="ko-KR" altLang="en-US" sz="4000" u="sng" dirty="0">
                <a:latin typeface="+mn-ea"/>
                <a:ea typeface="+mn-ea"/>
                <a:hlinkClick r:id="rId7"/>
              </a:rPr>
              <a:t>알고리즘</a:t>
            </a:r>
            <a:endParaRPr lang="ko-KR" altLang="en-US" sz="4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" y="3265"/>
            <a:ext cx="18265773" cy="102774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9322" y="4414485"/>
            <a:ext cx="100222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ko-KR" altLang="en-US" sz="9600" b="1" spc="-775" dirty="0" smtClean="0">
                <a:solidFill>
                  <a:srgbClr val="FFFFFF"/>
                </a:solidFill>
              </a:rPr>
              <a:t>감사합니다</a:t>
            </a:r>
            <a:endParaRPr sz="9600" b="1" spc="-775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8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3603</TotalTime>
  <Words>881</Words>
  <Application>Microsoft Office PowerPoint</Application>
  <PresentationFormat>사용자 지정</PresentationFormat>
  <Paragraphs>349</Paragraphs>
  <Slides>23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Theme</vt:lpstr>
      <vt:lpstr>MBTI사이트</vt:lpstr>
      <vt:lpstr>목차</vt:lpstr>
      <vt:lpstr>1. 팀원 소개</vt:lpstr>
      <vt:lpstr>1.1 팀원소개</vt:lpstr>
      <vt:lpstr>2. 프로젝트 개요</vt:lpstr>
      <vt:lpstr>2.1 개요</vt:lpstr>
      <vt:lpstr>2.2 목적 및 필요성</vt:lpstr>
      <vt:lpstr>2.3 개발 일정</vt:lpstr>
      <vt:lpstr>3. 사이트 구현</vt:lpstr>
      <vt:lpstr>3.1 개발 도구</vt:lpstr>
      <vt:lpstr>3.2 구현 프로그램 목록</vt:lpstr>
      <vt:lpstr>3.4 데이터베이스 설계 및 구성 - ERD</vt:lpstr>
      <vt:lpstr>데이터베이스 설계 및 구성 - 테이블</vt:lpstr>
      <vt:lpstr>데이터베이스 설계 및 구성 - 테이블</vt:lpstr>
      <vt:lpstr>데이터베이스 설계 및 구성 - 테이블</vt:lpstr>
      <vt:lpstr>인터페이스 및 기능 구현 – 시연영상  영상 등록이 되지 않아 별침 으로 첨부하겠습니다.</vt:lpstr>
      <vt:lpstr>4. 기대효과 및 맺음말</vt:lpstr>
      <vt:lpstr>기대효과 및 맺음말</vt:lpstr>
      <vt:lpstr>5. 팀원 소감</vt:lpstr>
      <vt:lpstr>팀원 소감</vt:lpstr>
      <vt:lpstr>6. 참고 자료 및 참고 사이트</vt:lpstr>
      <vt:lpstr>참고 자료 및 참고 사이트</vt:lpstr>
      <vt:lpstr>감사합니다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MBTI사이트(임시)</dc:title>
  <cp:lastModifiedBy>LG</cp:lastModifiedBy>
  <cp:revision>28</cp:revision>
  <dcterms:created xsi:type="dcterms:W3CDTF">2022-06-20T11:20:32Z</dcterms:created>
  <dcterms:modified xsi:type="dcterms:W3CDTF">2022-06-23T17:15:09Z</dcterms:modified>
  <cp:version/>
</cp:coreProperties>
</file>